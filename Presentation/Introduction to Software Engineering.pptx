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ntonio Ultra-Bold" charset="1" panose="02000803000000000000"/>
      <p:regular r:id="rId16"/>
    </p:embeddedFont>
    <p:embeddedFont>
      <p:font typeface="Antonio Light" charset="1" panose="02000303000000000000"/>
      <p:regular r:id="rId17"/>
    </p:embeddedFont>
    <p:embeddedFont>
      <p:font typeface="Antonio Bold" charset="1" panose="02000803000000000000"/>
      <p:regular r:id="rId18"/>
    </p:embeddedFont>
    <p:embeddedFont>
      <p:font typeface="Raleway" charset="1" panose="00000000000000000000"/>
      <p:regular r:id="rId19"/>
    </p:embeddedFont>
    <p:embeddedFont>
      <p:font typeface="Raleway Ultra-Bold" charset="1" panose="00000000000000000000"/>
      <p:regular r:id="rId20"/>
    </p:embeddedFont>
    <p:embeddedFont>
      <p:font typeface="Archivo Black" charset="1" panose="020B0A03020202020B04"/>
      <p:regular r:id="rId21"/>
    </p:embeddedFont>
    <p:embeddedFont>
      <p:font typeface="Raleway Medium" charset="1" panose="00000000000000000000"/>
      <p:regular r:id="rId22"/>
    </p:embeddedFont>
    <p:embeddedFont>
      <p:font typeface="Canva Sans Bold" charset="1" panose="020B0803030501040103"/>
      <p:regular r:id="rId23"/>
    </p:embeddedFont>
    <p:embeddedFont>
      <p:font typeface="Montserrat Medium" charset="1" panose="000006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7.jpeg" Type="http://schemas.openxmlformats.org/officeDocument/2006/relationships/image"/><Relationship Id="rId4" Target="../media/image8.jpeg" Type="http://schemas.openxmlformats.org/officeDocument/2006/relationships/image"/><Relationship Id="rId5" Target="../media/image9.jpe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0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jpeg" Type="http://schemas.openxmlformats.org/officeDocument/2006/relationships/image"/><Relationship Id="rId6" Target="../media/image14.jpeg" Type="http://schemas.openxmlformats.org/officeDocument/2006/relationships/image"/><Relationship Id="rId7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jpeg" Type="http://schemas.openxmlformats.org/officeDocument/2006/relationships/image"/><Relationship Id="rId4" Target="../media/image19.jpeg" Type="http://schemas.openxmlformats.org/officeDocument/2006/relationships/image"/><Relationship Id="rId5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1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4.jpeg" Type="http://schemas.openxmlformats.org/officeDocument/2006/relationships/image"/><Relationship Id="rId6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93042" y="2034365"/>
            <a:ext cx="7137321" cy="713732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CD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634504" y="1028700"/>
            <a:ext cx="7624796" cy="8142986"/>
          </a:xfrm>
          <a:custGeom>
            <a:avLst/>
            <a:gdLst/>
            <a:ahLst/>
            <a:cxnLst/>
            <a:rect r="r" b="b" t="t" l="l"/>
            <a:pathLst>
              <a:path h="8142986" w="7624796">
                <a:moveTo>
                  <a:pt x="0" y="0"/>
                </a:moveTo>
                <a:lnTo>
                  <a:pt x="7624796" y="0"/>
                </a:lnTo>
                <a:lnTo>
                  <a:pt x="7624796" y="8142986"/>
                </a:lnTo>
                <a:lnTo>
                  <a:pt x="0" y="81429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599105" y="5143500"/>
            <a:ext cx="4884164" cy="488416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-10742067" y="-3151841"/>
            <a:ext cx="16235139" cy="16235139"/>
          </a:xfrm>
          <a:custGeom>
            <a:avLst/>
            <a:gdLst/>
            <a:ahLst/>
            <a:cxnLst/>
            <a:rect r="r" b="b" t="t" l="l"/>
            <a:pathLst>
              <a:path h="16235139" w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4">
              <a:alphaModFix amt="20999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483559" y="3540245"/>
            <a:ext cx="3587414" cy="2530757"/>
          </a:xfrm>
          <a:custGeom>
            <a:avLst/>
            <a:gdLst/>
            <a:ahLst/>
            <a:cxnLst/>
            <a:rect r="r" b="b" t="t" l="l"/>
            <a:pathLst>
              <a:path h="2530757" w="3587414">
                <a:moveTo>
                  <a:pt x="0" y="0"/>
                </a:moveTo>
                <a:lnTo>
                  <a:pt x="3587414" y="0"/>
                </a:lnTo>
                <a:lnTo>
                  <a:pt x="3587414" y="2530758"/>
                </a:lnTo>
                <a:lnTo>
                  <a:pt x="0" y="25307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32134" y="2913622"/>
            <a:ext cx="7511866" cy="129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81"/>
              </a:lnSpc>
              <a:spcBef>
                <a:spcPct val="0"/>
              </a:spcBef>
            </a:pPr>
            <a:r>
              <a:rPr lang="en-US" b="true" sz="8777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INTRODUCTION 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32134" y="4852421"/>
            <a:ext cx="4673784" cy="2475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761"/>
              </a:lnSpc>
              <a:spcBef>
                <a:spcPct val="0"/>
              </a:spcBef>
            </a:pPr>
            <a:r>
              <a:rPr lang="en-US" sz="8414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SOFTWARE ENGINEERING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775555" y="-363745"/>
            <a:ext cx="2784890" cy="2784890"/>
          </a:xfrm>
          <a:custGeom>
            <a:avLst/>
            <a:gdLst/>
            <a:ahLst/>
            <a:cxnLst/>
            <a:rect r="r" b="b" t="t" l="l"/>
            <a:pathLst>
              <a:path h="2784890" w="2784890">
                <a:moveTo>
                  <a:pt x="0" y="0"/>
                </a:moveTo>
                <a:lnTo>
                  <a:pt x="2784891" y="0"/>
                </a:lnTo>
                <a:lnTo>
                  <a:pt x="2784891" y="2784890"/>
                </a:lnTo>
                <a:lnTo>
                  <a:pt x="0" y="27848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98531" y="4066889"/>
            <a:ext cx="5790071" cy="1717844"/>
            <a:chOff x="0" y="0"/>
            <a:chExt cx="1929913" cy="5725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9913" cy="572582"/>
            </a:xfrm>
            <a:custGeom>
              <a:avLst/>
              <a:gdLst/>
              <a:ahLst/>
              <a:cxnLst/>
              <a:rect r="r" b="b" t="t" l="l"/>
              <a:pathLst>
                <a:path h="572582" w="1929913">
                  <a:moveTo>
                    <a:pt x="0" y="0"/>
                  </a:moveTo>
                  <a:lnTo>
                    <a:pt x="1929913" y="0"/>
                  </a:lnTo>
                  <a:lnTo>
                    <a:pt x="1929913" y="572582"/>
                  </a:lnTo>
                  <a:lnTo>
                    <a:pt x="0" y="572582"/>
                  </a:lnTo>
                  <a:close/>
                </a:path>
              </a:pathLst>
            </a:custGeom>
            <a:solidFill>
              <a:srgbClr val="00BBDE">
                <a:alpha val="3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929913" cy="591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-10741914" y="-3252602"/>
            <a:ext cx="16235139" cy="16235139"/>
          </a:xfrm>
          <a:custGeom>
            <a:avLst/>
            <a:gdLst/>
            <a:ahLst/>
            <a:cxnLst/>
            <a:rect r="r" b="b" t="t" l="l"/>
            <a:pathLst>
              <a:path h="16235139" w="16235139">
                <a:moveTo>
                  <a:pt x="16235139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9" y="16235139"/>
                </a:lnTo>
                <a:lnTo>
                  <a:pt x="16235139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992013" y="3871495"/>
            <a:ext cx="2108633" cy="2108633"/>
            <a:chOff x="0" y="0"/>
            <a:chExt cx="14840029" cy="148400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3"/>
              <a:stretch>
                <a:fillRect l="223" t="0" r="223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58880" y="6359200"/>
            <a:ext cx="5829722" cy="1717844"/>
            <a:chOff x="0" y="0"/>
            <a:chExt cx="1943129" cy="57258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3129" cy="572582"/>
            </a:xfrm>
            <a:custGeom>
              <a:avLst/>
              <a:gdLst/>
              <a:ahLst/>
              <a:cxnLst/>
              <a:rect r="r" b="b" t="t" l="l"/>
              <a:pathLst>
                <a:path h="572582" w="1943129">
                  <a:moveTo>
                    <a:pt x="0" y="0"/>
                  </a:moveTo>
                  <a:lnTo>
                    <a:pt x="1943129" y="0"/>
                  </a:lnTo>
                  <a:lnTo>
                    <a:pt x="1943129" y="572582"/>
                  </a:lnTo>
                  <a:lnTo>
                    <a:pt x="0" y="572582"/>
                  </a:lnTo>
                  <a:close/>
                </a:path>
              </a:pathLst>
            </a:custGeom>
            <a:solidFill>
              <a:srgbClr val="00BBDE">
                <a:alpha val="3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943129" cy="591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952362" y="6163806"/>
            <a:ext cx="2108633" cy="2108633"/>
            <a:chOff x="0" y="0"/>
            <a:chExt cx="14840029" cy="148400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4"/>
              <a:stretch>
                <a:fillRect l="223" t="-828" r="223" b="-828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472088" y="4066889"/>
            <a:ext cx="5790071" cy="1717844"/>
            <a:chOff x="0" y="0"/>
            <a:chExt cx="1929913" cy="57258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29913" cy="572582"/>
            </a:xfrm>
            <a:custGeom>
              <a:avLst/>
              <a:gdLst/>
              <a:ahLst/>
              <a:cxnLst/>
              <a:rect r="r" b="b" t="t" l="l"/>
              <a:pathLst>
                <a:path h="572582" w="1929913">
                  <a:moveTo>
                    <a:pt x="0" y="0"/>
                  </a:moveTo>
                  <a:lnTo>
                    <a:pt x="1929913" y="0"/>
                  </a:lnTo>
                  <a:lnTo>
                    <a:pt x="1929913" y="572582"/>
                  </a:lnTo>
                  <a:lnTo>
                    <a:pt x="0" y="572582"/>
                  </a:lnTo>
                  <a:close/>
                </a:path>
              </a:pathLst>
            </a:custGeom>
            <a:solidFill>
              <a:srgbClr val="00BBDE">
                <a:alpha val="3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929913" cy="591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8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9365570" y="3871495"/>
            <a:ext cx="2108633" cy="2108633"/>
            <a:chOff x="0" y="0"/>
            <a:chExt cx="14840029" cy="148400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5"/>
              <a:stretch>
                <a:fillRect l="223" t="-72" r="223" b="-72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5973741" y="2183984"/>
            <a:ext cx="3689816" cy="154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056"/>
              </a:lnSpc>
              <a:spcBef>
                <a:spcPct val="0"/>
              </a:spcBef>
            </a:pPr>
            <a:r>
              <a:rPr lang="en-US" b="true" sz="10393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TEAM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658254" y="2183984"/>
            <a:ext cx="4625621" cy="154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056"/>
              </a:lnSpc>
              <a:spcBef>
                <a:spcPct val="0"/>
              </a:spcBef>
            </a:pPr>
            <a:r>
              <a:rPr lang="en-US" sz="10393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MEMBER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339334" y="4705045"/>
            <a:ext cx="3948001" cy="24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9"/>
              </a:lnSpc>
              <a:spcBef>
                <a:spcPct val="0"/>
              </a:spcBef>
            </a:pPr>
            <a:r>
              <a:rPr lang="en-US" sz="159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ID: 24880074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299683" y="6984944"/>
            <a:ext cx="3987652" cy="24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9"/>
              </a:lnSpc>
              <a:spcBef>
                <a:spcPct val="0"/>
              </a:spcBef>
            </a:pPr>
            <a:r>
              <a:rPr lang="en-US" sz="159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ID 24880061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712891" y="4705045"/>
            <a:ext cx="3948001" cy="24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9"/>
              </a:lnSpc>
              <a:spcBef>
                <a:spcPct val="0"/>
              </a:spcBef>
            </a:pPr>
            <a:r>
              <a:rPr lang="en-US" sz="159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24880077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712891" y="4208514"/>
            <a:ext cx="2541076" cy="325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6"/>
              </a:lnSpc>
              <a:spcBef>
                <a:spcPct val="0"/>
              </a:spcBef>
            </a:pPr>
            <a:r>
              <a:rPr lang="en-US" b="true" sz="2117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Lê Bùi Quốc Vũ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339334" y="4191953"/>
            <a:ext cx="2541076" cy="325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6"/>
              </a:lnSpc>
              <a:spcBef>
                <a:spcPct val="0"/>
              </a:spcBef>
            </a:pPr>
            <a:r>
              <a:rPr lang="en-US" b="true" sz="2117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Nguyễn Trung Việt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299683" y="6484263"/>
            <a:ext cx="2478300" cy="325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6"/>
              </a:lnSpc>
              <a:spcBef>
                <a:spcPct val="0"/>
              </a:spcBef>
            </a:pPr>
            <a:r>
              <a:rPr lang="en-US" b="true" sz="2117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Lưu Trung Tín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5775555" y="-363745"/>
            <a:ext cx="2784890" cy="2784890"/>
          </a:xfrm>
          <a:custGeom>
            <a:avLst/>
            <a:gdLst/>
            <a:ahLst/>
            <a:cxnLst/>
            <a:rect r="r" b="b" t="t" l="l"/>
            <a:pathLst>
              <a:path h="2784890" w="2784890">
                <a:moveTo>
                  <a:pt x="0" y="0"/>
                </a:moveTo>
                <a:lnTo>
                  <a:pt x="2784891" y="0"/>
                </a:lnTo>
                <a:lnTo>
                  <a:pt x="2784891" y="2784890"/>
                </a:lnTo>
                <a:lnTo>
                  <a:pt x="0" y="27848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68852" y="9579483"/>
            <a:ext cx="3846321" cy="707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GROUP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0742067" y="-3151841"/>
            <a:ext cx="16235139" cy="16235139"/>
          </a:xfrm>
          <a:custGeom>
            <a:avLst/>
            <a:gdLst/>
            <a:ahLst/>
            <a:cxnLst/>
            <a:rect r="r" b="b" t="t" l="l"/>
            <a:pathLst>
              <a:path h="16235139" w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21630" y="2670677"/>
            <a:ext cx="5246370" cy="5246370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4838700" y="0"/>
                  </a:moveTo>
                  <a:lnTo>
                    <a:pt x="1511300" y="0"/>
                  </a:lnTo>
                  <a:cubicBezTo>
                    <a:pt x="676910" y="0"/>
                    <a:pt x="0" y="676910"/>
                    <a:pt x="0" y="1511300"/>
                  </a:cubicBezTo>
                  <a:lnTo>
                    <a:pt x="0" y="6350000"/>
                  </a:lnTo>
                  <a:lnTo>
                    <a:pt x="4838700" y="6350000"/>
                  </a:lnTo>
                  <a:cubicBezTo>
                    <a:pt x="5673090" y="6350000"/>
                    <a:pt x="6350000" y="5673090"/>
                    <a:pt x="6350000" y="4838700"/>
                  </a:cubicBezTo>
                  <a:lnTo>
                    <a:pt x="6350000" y="0"/>
                  </a:lnTo>
                  <a:lnTo>
                    <a:pt x="4838700" y="0"/>
                  </a:lnTo>
                  <a:close/>
                </a:path>
              </a:pathLst>
            </a:custGeom>
            <a:blipFill>
              <a:blip r:embed="rId3"/>
              <a:stretch>
                <a:fillRect l="-39285" t="0" r="-39285" b="0"/>
              </a:stretch>
            </a:blipFill>
            <a:ln w="85725" cap="sq">
              <a:gradFill>
                <a:gsLst>
                  <a:gs pos="0">
                    <a:srgbClr val="243F81">
                      <a:alpha val="100000"/>
                    </a:srgbClr>
                  </a:gs>
                  <a:gs pos="100000">
                    <a:srgbClr val="28819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1504067" y="2358141"/>
            <a:ext cx="1148007" cy="114800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880410" y="2358141"/>
            <a:ext cx="4411782" cy="6345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8"/>
              </a:lnSpc>
            </a:pPr>
            <a:r>
              <a:rPr lang="en-US" sz="2300" b="true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This software is designed to enhance users’ English communication skills by providing a direct interactive environment that simulates one-on-one conversations with the system, implemented as either a web platform or a mobile application. It enables users to communicate in English using speech-to-text technology combined with a large language model (LLM) similar to ChatGPT, allowing the system to generate continuous and meaningful dialogues that support effective language learning.</a:t>
            </a:r>
          </a:p>
          <a:p>
            <a:pPr algn="l">
              <a:lnSpc>
                <a:spcPts val="2668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6111293" y="7179103"/>
            <a:ext cx="1148007" cy="114800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353217" y="5418722"/>
            <a:ext cx="1776216" cy="936546"/>
            <a:chOff x="0" y="0"/>
            <a:chExt cx="467810" cy="2466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7810" cy="246662"/>
            </a:xfrm>
            <a:custGeom>
              <a:avLst/>
              <a:gdLst/>
              <a:ahLst/>
              <a:cxnLst/>
              <a:rect r="r" b="b" t="t" l="l"/>
              <a:pathLst>
                <a:path h="246662" w="467810">
                  <a:moveTo>
                    <a:pt x="0" y="0"/>
                  </a:moveTo>
                  <a:lnTo>
                    <a:pt x="467810" y="0"/>
                  </a:lnTo>
                  <a:lnTo>
                    <a:pt x="467810" y="246662"/>
                  </a:lnTo>
                  <a:lnTo>
                    <a:pt x="0" y="246662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46000"/>
                  </a:srgbClr>
                </a:gs>
                <a:gs pos="100000">
                  <a:srgbClr val="9B9B9B">
                    <a:alpha val="552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467810" cy="2657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753164" y="2470877"/>
            <a:ext cx="5127245" cy="103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25"/>
              </a:lnSpc>
              <a:spcBef>
                <a:spcPct val="0"/>
              </a:spcBef>
            </a:pPr>
            <a:r>
              <a:rPr lang="en-US" b="true" sz="7004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PRESENTATION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53164" y="3525198"/>
            <a:ext cx="1804989" cy="841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73"/>
              </a:lnSpc>
              <a:spcBef>
                <a:spcPct val="0"/>
              </a:spcBef>
            </a:pPr>
            <a:r>
              <a:rPr lang="en-US" sz="5666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TOPIC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41934" y="4388803"/>
            <a:ext cx="4928438" cy="52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7"/>
              </a:lnSpc>
            </a:pPr>
            <a:r>
              <a:rPr lang="en-US" sz="306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English</a:t>
            </a:r>
            <a:r>
              <a:rPr lang="en-US" b="true" sz="306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Learning Software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5775555" y="-363745"/>
            <a:ext cx="2784890" cy="2784890"/>
          </a:xfrm>
          <a:custGeom>
            <a:avLst/>
            <a:gdLst/>
            <a:ahLst/>
            <a:cxnLst/>
            <a:rect r="r" b="b" t="t" l="l"/>
            <a:pathLst>
              <a:path h="2784890" w="2784890">
                <a:moveTo>
                  <a:pt x="0" y="0"/>
                </a:moveTo>
                <a:lnTo>
                  <a:pt x="2784891" y="0"/>
                </a:lnTo>
                <a:lnTo>
                  <a:pt x="2784891" y="2784890"/>
                </a:lnTo>
                <a:lnTo>
                  <a:pt x="0" y="27848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8852" y="9579483"/>
            <a:ext cx="3846321" cy="707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GROUP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0742067" y="-3151841"/>
            <a:ext cx="16235139" cy="16235139"/>
          </a:xfrm>
          <a:custGeom>
            <a:avLst/>
            <a:gdLst/>
            <a:ahLst/>
            <a:cxnLst/>
            <a:rect r="r" b="b" t="t" l="l"/>
            <a:pathLst>
              <a:path h="16235139" w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70833" y="4060098"/>
            <a:ext cx="7116792" cy="4114800"/>
          </a:xfrm>
          <a:custGeom>
            <a:avLst/>
            <a:gdLst/>
            <a:ahLst/>
            <a:cxnLst/>
            <a:rect r="r" b="b" t="t" l="l"/>
            <a:pathLst>
              <a:path h="4114800" w="7116792">
                <a:moveTo>
                  <a:pt x="0" y="0"/>
                </a:moveTo>
                <a:lnTo>
                  <a:pt x="7116792" y="0"/>
                </a:lnTo>
                <a:lnTo>
                  <a:pt x="71167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977851" y="4271007"/>
            <a:ext cx="3692982" cy="3692982"/>
            <a:chOff x="0" y="0"/>
            <a:chExt cx="14840029" cy="148400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5"/>
              <a:stretch>
                <a:fillRect l="-24712" t="0" r="-24712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4730651" y="2183984"/>
            <a:ext cx="5112744" cy="154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056"/>
              </a:lnSpc>
              <a:spcBef>
                <a:spcPct val="0"/>
              </a:spcBef>
            </a:pPr>
            <a:r>
              <a:rPr lang="en-US" b="true" sz="10393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SOFTWARE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86781" y="2183984"/>
            <a:ext cx="6187406" cy="154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056"/>
              </a:lnSpc>
              <a:spcBef>
                <a:spcPct val="0"/>
              </a:spcBef>
            </a:pPr>
            <a:r>
              <a:rPr lang="en-US" sz="10393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 OBJECTIVES</a:t>
            </a: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2937098" y="4271007"/>
            <a:ext cx="3692982" cy="3692982"/>
            <a:chOff x="0" y="0"/>
            <a:chExt cx="14840029" cy="148400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6"/>
              <a:stretch>
                <a:fillRect l="-33979" t="0" r="-33979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288912" y="5525475"/>
            <a:ext cx="6030106" cy="1184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2"/>
              </a:lnSpc>
              <a:spcBef>
                <a:spcPct val="0"/>
              </a:spcBef>
            </a:pPr>
            <a:r>
              <a:rPr lang="en-US" b="true" sz="2053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This software aims to provide a highly interactive English learning platform that helps users improve their language skills through modern technology and realistic interaction.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79486" y="4569497"/>
            <a:ext cx="1148007" cy="1148007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300184" y="7190525"/>
            <a:ext cx="1148007" cy="1148007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5775555" y="-363745"/>
            <a:ext cx="2784890" cy="2784890"/>
          </a:xfrm>
          <a:custGeom>
            <a:avLst/>
            <a:gdLst/>
            <a:ahLst/>
            <a:cxnLst/>
            <a:rect r="r" b="b" t="t" l="l"/>
            <a:pathLst>
              <a:path h="2784890" w="2784890">
                <a:moveTo>
                  <a:pt x="0" y="0"/>
                </a:moveTo>
                <a:lnTo>
                  <a:pt x="2784891" y="0"/>
                </a:lnTo>
                <a:lnTo>
                  <a:pt x="2784891" y="2784890"/>
                </a:lnTo>
                <a:lnTo>
                  <a:pt x="0" y="27848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8852" y="9579483"/>
            <a:ext cx="3846321" cy="707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GROUP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0742067" y="-3151841"/>
            <a:ext cx="16235139" cy="16235139"/>
          </a:xfrm>
          <a:custGeom>
            <a:avLst/>
            <a:gdLst/>
            <a:ahLst/>
            <a:cxnLst/>
            <a:rect r="r" b="b" t="t" l="l"/>
            <a:pathLst>
              <a:path h="16235139" w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8669610" y="3073227"/>
            <a:ext cx="13199814" cy="5627536"/>
          </a:xfrm>
          <a:custGeom>
            <a:avLst/>
            <a:gdLst/>
            <a:ahLst/>
            <a:cxnLst/>
            <a:rect r="r" b="b" t="t" l="l"/>
            <a:pathLst>
              <a:path h="5627536" w="13199814">
                <a:moveTo>
                  <a:pt x="13199814" y="0"/>
                </a:moveTo>
                <a:lnTo>
                  <a:pt x="0" y="0"/>
                </a:lnTo>
                <a:lnTo>
                  <a:pt x="0" y="5627536"/>
                </a:lnTo>
                <a:lnTo>
                  <a:pt x="13199814" y="5627536"/>
                </a:lnTo>
                <a:lnTo>
                  <a:pt x="13199814" y="0"/>
                </a:lnTo>
                <a:close/>
              </a:path>
            </a:pathLst>
          </a:custGeom>
          <a:blipFill>
            <a:blip r:embed="rId3">
              <a:alphaModFix amt="43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21098" y="2922995"/>
            <a:ext cx="6223741" cy="1295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88"/>
              </a:lnSpc>
            </a:pPr>
            <a:r>
              <a:rPr lang="en-US" sz="1800" b="true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Speech Recognition:</a:t>
            </a:r>
          </a:p>
          <a:p>
            <a:pPr algn="just">
              <a:lnSpc>
                <a:spcPts val="2088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Users read English sentences aloud, and the system uses a speech recognition API to convert the audio into text. Users can edit the text if needed and then submit it back to the system using the "Send" button.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05483" y="2441108"/>
            <a:ext cx="1148007" cy="114800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921098" y="4842906"/>
            <a:ext cx="6223741" cy="1886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8"/>
              </a:lnSpc>
            </a:pPr>
            <a:r>
              <a:rPr lang="en-US" sz="2300" b="true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Text-to-Text Interaction:</a:t>
            </a:r>
          </a:p>
          <a:p>
            <a:pPr algn="just">
              <a:lnSpc>
                <a:spcPts val="2088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The system receives the edited text and uses an API or a large language model to analyze it and respond in English, appropriate to the context of the conversation. It provides suggested follow-up questions to encourage the dialogue and offers a text-to-speech function so that users can hear the correct pronunciation.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05483" y="4361019"/>
            <a:ext cx="1148007" cy="114800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447842" y="3534723"/>
            <a:ext cx="9538336" cy="143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147"/>
              </a:lnSpc>
              <a:spcBef>
                <a:spcPct val="0"/>
              </a:spcBef>
            </a:pPr>
            <a:r>
              <a:rPr lang="en-US" b="true" sz="9609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MAIN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47842" y="5040763"/>
            <a:ext cx="6537581" cy="1740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653"/>
              </a:lnSpc>
              <a:spcBef>
                <a:spcPct val="0"/>
              </a:spcBef>
            </a:pPr>
            <a:r>
              <a:rPr lang="en-US" sz="11770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FUNCTIONS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775555" y="-363745"/>
            <a:ext cx="2784890" cy="2784890"/>
          </a:xfrm>
          <a:custGeom>
            <a:avLst/>
            <a:gdLst/>
            <a:ahLst/>
            <a:cxnLst/>
            <a:rect r="r" b="b" t="t" l="l"/>
            <a:pathLst>
              <a:path h="2784890" w="2784890">
                <a:moveTo>
                  <a:pt x="0" y="0"/>
                </a:moveTo>
                <a:lnTo>
                  <a:pt x="2784891" y="0"/>
                </a:lnTo>
                <a:lnTo>
                  <a:pt x="2784891" y="2784890"/>
                </a:lnTo>
                <a:lnTo>
                  <a:pt x="0" y="27848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8852" y="9579483"/>
            <a:ext cx="3846321" cy="707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GROUP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2049" y="2520315"/>
            <a:ext cx="4508599" cy="5246370"/>
            <a:chOff x="0" y="0"/>
            <a:chExt cx="6985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2"/>
              <a:stretch>
                <a:fillRect l="-27669" t="0" r="-2766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353006" y="1794438"/>
            <a:ext cx="1678544" cy="1953215"/>
            <a:chOff x="0" y="0"/>
            <a:chExt cx="6985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3"/>
              <a:stretch>
                <a:fillRect l="-8181" t="0" r="-818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186519" y="6615217"/>
            <a:ext cx="1678544" cy="1953215"/>
            <a:chOff x="0" y="0"/>
            <a:chExt cx="6985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4"/>
              <a:stretch>
                <a:fillRect l="-8181" t="0" r="-818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95218" y="5573710"/>
            <a:ext cx="1790091" cy="2083015"/>
            <a:chOff x="0" y="0"/>
            <a:chExt cx="6985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9B9B9B">
                    <a:alpha val="12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20650"/>
              <a:ext cx="698500" cy="552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903586" y="3698058"/>
            <a:ext cx="5259509" cy="1583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49"/>
              </a:lnSpc>
              <a:spcBef>
                <a:spcPct val="0"/>
              </a:spcBef>
            </a:pPr>
            <a:r>
              <a:rPr lang="en-US" b="true" sz="10646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ADVANCED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18995" y="5043051"/>
            <a:ext cx="5488451" cy="1583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49"/>
              </a:lnSpc>
              <a:spcBef>
                <a:spcPct val="0"/>
              </a:spcBef>
            </a:pPr>
            <a:r>
              <a:rPr lang="en-US" sz="10646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FEATURES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01442" y="2769308"/>
            <a:ext cx="4752807" cy="1011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8"/>
              </a:lnSpc>
              <a:spcBef>
                <a:spcPct val="0"/>
              </a:spcBef>
            </a:pPr>
            <a:r>
              <a:rPr lang="en-US" b="true" sz="230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Continuous one-on-one conversation without the need to press the "Send" button.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321694" y="2120350"/>
            <a:ext cx="666614" cy="66661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801442" y="2281127"/>
            <a:ext cx="1629236" cy="345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8"/>
              </a:lnSpc>
              <a:spcBef>
                <a:spcPct val="0"/>
              </a:spcBef>
            </a:pPr>
            <a:r>
              <a:rPr lang="en-US" b="true" sz="2300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Auto Mode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01442" y="4945749"/>
            <a:ext cx="5254502" cy="2011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8"/>
              </a:lnSpc>
              <a:spcBef>
                <a:spcPct val="0"/>
              </a:spcBef>
            </a:pPr>
            <a:r>
              <a:rPr lang="en-US" b="true" sz="230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If users encounter difficulties with vocabulary or pronunciation, they can use the integrated dictionary feature in the application or access Google Translate or a similar API to translate and learn new words.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321694" y="4296791"/>
            <a:ext cx="666614" cy="66661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801442" y="4457569"/>
            <a:ext cx="2939121" cy="345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8"/>
              </a:lnSpc>
              <a:spcBef>
                <a:spcPct val="0"/>
              </a:spcBef>
            </a:pPr>
            <a:r>
              <a:rPr lang="en-US" b="true" sz="2300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Vocabulary Support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852" y="9579483"/>
            <a:ext cx="3846321" cy="707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GROUP PRESENTATION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5775555" y="-363745"/>
            <a:ext cx="2784890" cy="2784890"/>
          </a:xfrm>
          <a:custGeom>
            <a:avLst/>
            <a:gdLst/>
            <a:ahLst/>
            <a:cxnLst/>
            <a:rect r="r" b="b" t="t" l="l"/>
            <a:pathLst>
              <a:path h="2784890" w="2784890">
                <a:moveTo>
                  <a:pt x="0" y="0"/>
                </a:moveTo>
                <a:lnTo>
                  <a:pt x="2784891" y="0"/>
                </a:lnTo>
                <a:lnTo>
                  <a:pt x="2784891" y="2784890"/>
                </a:lnTo>
                <a:lnTo>
                  <a:pt x="0" y="27848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80933" y="2906099"/>
            <a:ext cx="2827331" cy="156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265"/>
              </a:lnSpc>
              <a:spcBef>
                <a:spcPct val="0"/>
              </a:spcBef>
            </a:pPr>
            <a:r>
              <a:rPr lang="en-US" b="true" sz="10573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KEY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660581" y="3155336"/>
            <a:ext cx="1031297" cy="103129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663956" y="2150860"/>
            <a:ext cx="4794032" cy="9485815"/>
            <a:chOff x="0" y="0"/>
            <a:chExt cx="2620010" cy="51841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112527" t="0" r="-112527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580933" y="4241917"/>
            <a:ext cx="6794182" cy="156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265"/>
              </a:lnSpc>
              <a:spcBef>
                <a:spcPct val="0"/>
              </a:spcBef>
            </a:pPr>
            <a:r>
              <a:rPr lang="en-US" sz="10573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TECHNOLOGIES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580933" y="5809786"/>
            <a:ext cx="13178926" cy="2263224"/>
            <a:chOff x="0" y="0"/>
            <a:chExt cx="3470993" cy="5960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470993" cy="596075"/>
            </a:xfrm>
            <a:custGeom>
              <a:avLst/>
              <a:gdLst/>
              <a:ahLst/>
              <a:cxnLst/>
              <a:rect r="r" b="b" t="t" l="l"/>
              <a:pathLst>
                <a:path h="596075" w="3470993">
                  <a:moveTo>
                    <a:pt x="0" y="0"/>
                  </a:moveTo>
                  <a:lnTo>
                    <a:pt x="3470993" y="0"/>
                  </a:lnTo>
                  <a:lnTo>
                    <a:pt x="3470993" y="596075"/>
                  </a:lnTo>
                  <a:lnTo>
                    <a:pt x="0" y="596075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6000"/>
                  </a:srgbClr>
                </a:gs>
                <a:gs pos="100000">
                  <a:srgbClr val="9B9B9B">
                    <a:alpha val="192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3470993" cy="615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984795" y="5935431"/>
            <a:ext cx="8610129" cy="1306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2"/>
              </a:lnSpc>
            </a:pPr>
            <a:r>
              <a:rPr lang="en-US" sz="2200" b="true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English Communication Web Application Integrated with APIs such as speech-to-text and text-to-speech from providers.</a:t>
            </a:r>
          </a:p>
          <a:p>
            <a:pPr algn="l">
              <a:lnSpc>
                <a:spcPts val="2552"/>
              </a:lnSpc>
              <a:spcBef>
                <a:spcPct val="0"/>
              </a:spcBef>
            </a:pPr>
            <a:r>
              <a:rPr lang="en-US" b="true" sz="220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Designed with a user-friendly interface, easy navigation, and ensuring a seamless learning experience.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318891" y="4787425"/>
            <a:ext cx="1148007" cy="114800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483760" y="5888134"/>
            <a:ext cx="2001574" cy="2001574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997849" y="8754671"/>
            <a:ext cx="1790091" cy="2083015"/>
            <a:chOff x="0" y="0"/>
            <a:chExt cx="6985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9B9B9B">
                    <a:alpha val="12000"/>
                  </a:srgbClr>
                </a:gs>
              </a:gsLst>
              <a:lin ang="0"/>
            </a:gra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120650"/>
              <a:ext cx="698500" cy="552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68852" y="9579483"/>
            <a:ext cx="3846321" cy="707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GROUP PRESENTATION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5775555" y="-363745"/>
            <a:ext cx="2784890" cy="2784890"/>
          </a:xfrm>
          <a:custGeom>
            <a:avLst/>
            <a:gdLst/>
            <a:ahLst/>
            <a:cxnLst/>
            <a:rect r="r" b="b" t="t" l="l"/>
            <a:pathLst>
              <a:path h="2784890" w="2784890">
                <a:moveTo>
                  <a:pt x="0" y="0"/>
                </a:moveTo>
                <a:lnTo>
                  <a:pt x="2784891" y="0"/>
                </a:lnTo>
                <a:lnTo>
                  <a:pt x="2784891" y="2784890"/>
                </a:lnTo>
                <a:lnTo>
                  <a:pt x="0" y="278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0742067" y="-3151841"/>
            <a:ext cx="16235139" cy="16235139"/>
          </a:xfrm>
          <a:custGeom>
            <a:avLst/>
            <a:gdLst/>
            <a:ahLst/>
            <a:cxnLst/>
            <a:rect r="r" b="b" t="t" l="l"/>
            <a:pathLst>
              <a:path h="16235139" w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65414" y="3604841"/>
            <a:ext cx="8923409" cy="3482573"/>
            <a:chOff x="0" y="0"/>
            <a:chExt cx="2350198" cy="9172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50198" cy="917221"/>
            </a:xfrm>
            <a:custGeom>
              <a:avLst/>
              <a:gdLst/>
              <a:ahLst/>
              <a:cxnLst/>
              <a:rect r="r" b="b" t="t" l="l"/>
              <a:pathLst>
                <a:path h="917221" w="2350198">
                  <a:moveTo>
                    <a:pt x="0" y="0"/>
                  </a:moveTo>
                  <a:lnTo>
                    <a:pt x="2350198" y="0"/>
                  </a:lnTo>
                  <a:lnTo>
                    <a:pt x="2350198" y="917221"/>
                  </a:lnTo>
                  <a:lnTo>
                    <a:pt x="0" y="917221"/>
                  </a:ln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350198" cy="936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2611788" y="2628419"/>
            <a:ext cx="5030161" cy="5030161"/>
            <a:chOff x="0" y="0"/>
            <a:chExt cx="14840029" cy="148400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3"/>
              <a:stretch>
                <a:fillRect l="223" t="-25046" r="223" b="-2504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706251" y="6161550"/>
            <a:ext cx="1851727" cy="185172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553532" y="2478431"/>
            <a:ext cx="1431892" cy="143189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753164" y="4554522"/>
            <a:ext cx="4704503" cy="1206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432"/>
              </a:lnSpc>
              <a:spcBef>
                <a:spcPct val="0"/>
              </a:spcBef>
            </a:pPr>
            <a:r>
              <a:rPr lang="en-US" sz="8131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CAPABILITIES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67267" y="3604841"/>
            <a:ext cx="4931549" cy="551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2"/>
              </a:lnSpc>
              <a:spcBef>
                <a:spcPct val="0"/>
              </a:spcBef>
            </a:pPr>
            <a:r>
              <a:rPr lang="en-US" b="true" sz="220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Our English learning app offers a highly interactive and immersive experience that allows users to practice speaking, listening, and understanding English in real-time. By integrating cutting-edge technologies like speech-to-text, text-to-speech, and AI-powered conversation models, the app simulates natural one-on-one dialogues, helping users build confidence and fluency. With personalized feedback, vocabulary support, and engaging exercises, it transforms language learning into a fun, efficient, and practical experience—anytime, anywhere.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44394" y="3194377"/>
            <a:ext cx="1217541" cy="1217541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753164" y="3515888"/>
            <a:ext cx="5543804" cy="1131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935"/>
              </a:lnSpc>
              <a:spcBef>
                <a:spcPct val="0"/>
              </a:spcBef>
            </a:pPr>
            <a:r>
              <a:rPr lang="en-US" b="true" sz="7703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APPLICATION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852" y="9579483"/>
            <a:ext cx="3846321" cy="707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GROUP PRESENTATION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5775555" y="-363745"/>
            <a:ext cx="2784890" cy="2784890"/>
          </a:xfrm>
          <a:custGeom>
            <a:avLst/>
            <a:gdLst/>
            <a:ahLst/>
            <a:cxnLst/>
            <a:rect r="r" b="b" t="t" l="l"/>
            <a:pathLst>
              <a:path h="2784890" w="2784890">
                <a:moveTo>
                  <a:pt x="0" y="0"/>
                </a:moveTo>
                <a:lnTo>
                  <a:pt x="2784891" y="0"/>
                </a:lnTo>
                <a:lnTo>
                  <a:pt x="2784891" y="2784890"/>
                </a:lnTo>
                <a:lnTo>
                  <a:pt x="0" y="27848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0742067" y="-3151841"/>
            <a:ext cx="16235139" cy="16235139"/>
          </a:xfrm>
          <a:custGeom>
            <a:avLst/>
            <a:gdLst/>
            <a:ahLst/>
            <a:cxnLst/>
            <a:rect r="r" b="b" t="t" l="l"/>
            <a:pathLst>
              <a:path h="16235139" w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6802847" y="9074087"/>
            <a:ext cx="365153" cy="347891"/>
          </a:xfrm>
          <a:custGeom>
            <a:avLst/>
            <a:gdLst/>
            <a:ahLst/>
            <a:cxnLst/>
            <a:rect r="r" b="b" t="t" l="l"/>
            <a:pathLst>
              <a:path h="347891" w="365153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65700" y="2760415"/>
            <a:ext cx="6275038" cy="154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056"/>
              </a:lnSpc>
              <a:spcBef>
                <a:spcPct val="0"/>
              </a:spcBef>
            </a:pPr>
            <a:r>
              <a:rPr lang="en-US" b="true" sz="10393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Q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65700" y="4438382"/>
            <a:ext cx="5515670" cy="154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056"/>
              </a:lnSpc>
              <a:spcBef>
                <a:spcPct val="0"/>
              </a:spcBef>
            </a:pPr>
            <a:r>
              <a:rPr lang="en-US" sz="10393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AND 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144000" y="3296472"/>
            <a:ext cx="18751960" cy="1195812"/>
            <a:chOff x="0" y="0"/>
            <a:chExt cx="4938788" cy="3149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38788" cy="314946"/>
            </a:xfrm>
            <a:custGeom>
              <a:avLst/>
              <a:gdLst/>
              <a:ahLst/>
              <a:cxnLst/>
              <a:rect r="r" b="b" t="t" l="l"/>
              <a:pathLst>
                <a:path h="314946" w="4938788">
                  <a:moveTo>
                    <a:pt x="0" y="0"/>
                  </a:moveTo>
                  <a:lnTo>
                    <a:pt x="4938788" y="0"/>
                  </a:lnTo>
                  <a:lnTo>
                    <a:pt x="4938788" y="314946"/>
                  </a:lnTo>
                  <a:lnTo>
                    <a:pt x="0" y="314946"/>
                  </a:lnTo>
                  <a:close/>
                </a:path>
              </a:pathLst>
            </a:custGeom>
            <a:gradFill rotWithShape="true">
              <a:gsLst>
                <a:gs pos="0">
                  <a:srgbClr val="243F81">
                    <a:alpha val="100000"/>
                  </a:srgbClr>
                </a:gs>
                <a:gs pos="100000">
                  <a:srgbClr val="28819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4938788" cy="333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140738" y="2722315"/>
            <a:ext cx="2014483" cy="2344125"/>
            <a:chOff x="0" y="0"/>
            <a:chExt cx="6985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5"/>
              <a:stretch>
                <a:fillRect l="-36441" t="0" r="-36441" b="0"/>
              </a:stretch>
            </a:blipFill>
            <a:ln w="57150" cap="sq">
              <a:gradFill>
                <a:gsLst>
                  <a:gs pos="0">
                    <a:srgbClr val="243F81">
                      <a:alpha val="100000"/>
                    </a:srgbClr>
                  </a:gs>
                  <a:gs pos="100000">
                    <a:srgbClr val="288198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0618196" y="3388473"/>
            <a:ext cx="6422991" cy="1011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8"/>
              </a:lnSpc>
              <a:spcBef>
                <a:spcPct val="0"/>
              </a:spcBef>
            </a:pPr>
            <a:r>
              <a:rPr lang="en-US" b="true" sz="2300">
                <a:solidFill>
                  <a:srgbClr val="FFFFFF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You can ask directly right now or send your question to viet.nt123456@gmail.com, and we will respond as soon as possible.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18196" y="2823075"/>
            <a:ext cx="4249005" cy="345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8"/>
              </a:lnSpc>
              <a:spcBef>
                <a:spcPct val="0"/>
              </a:spcBef>
            </a:pPr>
            <a:r>
              <a:rPr lang="en-US" b="true" sz="2300">
                <a:solidFill>
                  <a:srgbClr val="FFFF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Any Question For US 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852" y="9579483"/>
            <a:ext cx="3846321" cy="707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GROUP PRESENTATION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775555" y="-363745"/>
            <a:ext cx="2784890" cy="2784890"/>
          </a:xfrm>
          <a:custGeom>
            <a:avLst/>
            <a:gdLst/>
            <a:ahLst/>
            <a:cxnLst/>
            <a:rect r="r" b="b" t="t" l="l"/>
            <a:pathLst>
              <a:path h="2784890" w="2784890">
                <a:moveTo>
                  <a:pt x="0" y="0"/>
                </a:moveTo>
                <a:lnTo>
                  <a:pt x="2784891" y="0"/>
                </a:lnTo>
                <a:lnTo>
                  <a:pt x="2784891" y="2784890"/>
                </a:lnTo>
                <a:lnTo>
                  <a:pt x="0" y="27848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43F81">
                <a:alpha val="100000"/>
              </a:srgbClr>
            </a:gs>
            <a:gs pos="100000">
              <a:srgbClr val="28819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0742067" y="-3151841"/>
            <a:ext cx="16235139" cy="16235139"/>
          </a:xfrm>
          <a:custGeom>
            <a:avLst/>
            <a:gdLst/>
            <a:ahLst/>
            <a:cxnLst/>
            <a:rect r="r" b="b" t="t" l="l"/>
            <a:pathLst>
              <a:path h="16235139" w="16235139">
                <a:moveTo>
                  <a:pt x="16235138" y="0"/>
                </a:moveTo>
                <a:lnTo>
                  <a:pt x="0" y="0"/>
                </a:lnTo>
                <a:lnTo>
                  <a:pt x="0" y="16235139"/>
                </a:lnTo>
                <a:lnTo>
                  <a:pt x="16235138" y="16235139"/>
                </a:lnTo>
                <a:lnTo>
                  <a:pt x="16235138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6802847" y="9074087"/>
            <a:ext cx="365153" cy="347891"/>
          </a:xfrm>
          <a:custGeom>
            <a:avLst/>
            <a:gdLst/>
            <a:ahLst/>
            <a:cxnLst/>
            <a:rect r="r" b="b" t="t" l="l"/>
            <a:pathLst>
              <a:path h="347891" w="365153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06903" y="3310736"/>
            <a:ext cx="6995030" cy="2446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2"/>
              </a:lnSpc>
              <a:spcBef>
                <a:spcPct val="0"/>
              </a:spcBef>
            </a:pPr>
            <a:r>
              <a:rPr lang="en-US" b="true" sz="16545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THANK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253489" y="2403386"/>
            <a:ext cx="2138817" cy="213881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FE5FF">
                    <a:alpha val="100000"/>
                  </a:srgbClr>
                </a:gs>
                <a:gs pos="100000">
                  <a:srgbClr val="6F6296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697179" y="3989897"/>
            <a:ext cx="549969" cy="549969"/>
          </a:xfrm>
          <a:custGeom>
            <a:avLst/>
            <a:gdLst/>
            <a:ahLst/>
            <a:cxnLst/>
            <a:rect r="r" b="b" t="t" l="l"/>
            <a:pathLst>
              <a:path h="549969" w="549969">
                <a:moveTo>
                  <a:pt x="0" y="0"/>
                </a:moveTo>
                <a:lnTo>
                  <a:pt x="549969" y="0"/>
                </a:lnTo>
                <a:lnTo>
                  <a:pt x="549969" y="549969"/>
                </a:lnTo>
                <a:lnTo>
                  <a:pt x="0" y="5499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717548" y="5308408"/>
            <a:ext cx="549969" cy="549969"/>
          </a:xfrm>
          <a:custGeom>
            <a:avLst/>
            <a:gdLst/>
            <a:ahLst/>
            <a:cxnLst/>
            <a:rect r="r" b="b" t="t" l="l"/>
            <a:pathLst>
              <a:path h="549969" w="549969">
                <a:moveTo>
                  <a:pt x="0" y="0"/>
                </a:moveTo>
                <a:lnTo>
                  <a:pt x="549969" y="0"/>
                </a:lnTo>
                <a:lnTo>
                  <a:pt x="549969" y="549969"/>
                </a:lnTo>
                <a:lnTo>
                  <a:pt x="0" y="5499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768105" y="5437365"/>
            <a:ext cx="4272627" cy="2446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2"/>
              </a:lnSpc>
              <a:spcBef>
                <a:spcPct val="0"/>
              </a:spcBef>
            </a:pPr>
            <a:r>
              <a:rPr lang="en-US" sz="16545">
                <a:solidFill>
                  <a:srgbClr val="FFFFFF"/>
                </a:solidFill>
                <a:latin typeface="Antonio Light"/>
                <a:ea typeface="Antonio Light"/>
                <a:cs typeface="Antonio Light"/>
                <a:sym typeface="Antonio Light"/>
              </a:rPr>
              <a:t>YOU!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592066" y="4035031"/>
            <a:ext cx="2552873" cy="335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8"/>
              </a:lnSpc>
              <a:spcBef>
                <a:spcPct val="0"/>
              </a:spcBef>
            </a:pPr>
            <a:r>
              <a:rPr lang="en-US" b="true" sz="23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+123-456-7890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92066" y="5380215"/>
            <a:ext cx="4769600" cy="335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8"/>
              </a:lnSpc>
              <a:spcBef>
                <a:spcPct val="0"/>
              </a:spcBef>
            </a:pPr>
            <a:r>
              <a:rPr lang="en-US" b="true" sz="23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viet.nt123456@gmail.com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852" y="9579483"/>
            <a:ext cx="3846321" cy="707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GROUP PRESENTATION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775555" y="-363745"/>
            <a:ext cx="2784890" cy="2784890"/>
          </a:xfrm>
          <a:custGeom>
            <a:avLst/>
            <a:gdLst/>
            <a:ahLst/>
            <a:cxnLst/>
            <a:rect r="r" b="b" t="t" l="l"/>
            <a:pathLst>
              <a:path h="2784890" w="2784890">
                <a:moveTo>
                  <a:pt x="0" y="0"/>
                </a:moveTo>
                <a:lnTo>
                  <a:pt x="2784891" y="0"/>
                </a:lnTo>
                <a:lnTo>
                  <a:pt x="2784891" y="2784890"/>
                </a:lnTo>
                <a:lnTo>
                  <a:pt x="0" y="278489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DAG6UmMkvTo</dc:identifier>
  <dcterms:modified xsi:type="dcterms:W3CDTF">2011-08-01T06:04:30Z</dcterms:modified>
  <cp:revision>1</cp:revision>
  <dc:title>Green Modern Simple Cybersecurity Presentation</dc:title>
</cp:coreProperties>
</file>